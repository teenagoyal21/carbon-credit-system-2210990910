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jc/bMVLuHrdAuCQF/6ZqlDn8Nc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13E57F-26C6-42F5-BE0B-5658B9BBADA5}">
  <a:tblStyle styleId="{5F13E57F-26C6-42F5-BE0B-5658B9BBAD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a78b91591_0_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da78b91591_0_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a78b91591_0_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da78b91591_0_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a78b91591_0_1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da78b91591_0_1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a78b91591_0_5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da78b91591_0_5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a78b91591_0_6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da78b91591_0_6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a78b91591_0_6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da78b91591_0_6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a78b91591_0_6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da78b91591_0_6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a78b91591_0_128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da78b91591_0_128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4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" name="Google Shape;12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4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6" name="Google Shape;16;p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4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8" name="Google Shape;1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4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22" name="Google Shape;22;p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4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and Scalable Blockchain Integrated AI Framework for Real-Time Carbon Credit Verification Using IoT Data</a:t>
            </a:r>
            <a:endParaRPr b="1" sz="21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Teena Goyal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2210990910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DR. S. B. GOYAL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274350" y="1015048"/>
            <a:ext cx="8595300" cy="48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Times New Roman"/>
              <a:buNone/>
            </a:pPr>
            <a:r>
              <a:rPr b="1" i="0" lang="en-US" sz="19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&amp; Motivation</a:t>
            </a: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00"/>
              <a:buFont typeface="Times New Roman"/>
              <a:buNone/>
            </a:pPr>
            <a:br>
              <a:rPr i="0" lang="en-US" sz="1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Global carbon credit market valued at over USD 850 billion, yet plagued by fraud, greenwashing, and slow manual auditing.</a:t>
            </a: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Traditional verification is manual, costly, and prone to manipulation (error rate 8–12%).</a:t>
            </a: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AI, Blockchain &amp; IoT together offer a path to real-time, tamper-proof emission validation.</a:t>
            </a: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00"/>
              <a:buFont typeface="Times New Roman"/>
              <a:buNone/>
            </a:pPr>
            <a:br>
              <a:rPr i="0" lang="en-US" sz="1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Times New Roman"/>
              <a:buNone/>
            </a:pPr>
            <a:r>
              <a:rPr b="1" i="0" lang="en-US" sz="19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Contributions</a:t>
            </a: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00"/>
              <a:buFont typeface="Times New Roman"/>
              <a:buNone/>
            </a:pPr>
            <a:br>
              <a:rPr i="0" lang="en-US" sz="1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IoT sensing layer</a:t>
            </a:r>
            <a:r>
              <a:rPr lang="en-US" sz="17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CO₂, energy, temp/humidity, PM sensors every 60 seconds.</a:t>
            </a: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Two-stage AI pipeline</a:t>
            </a:r>
            <a:r>
              <a:rPr lang="en-US" sz="17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LSTM for time-series prediction + XGBoost for anomaly classification.</a:t>
            </a: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Hyperledger Fabric v2.4 blockchain</a:t>
            </a:r>
            <a:r>
              <a:rPr lang="en-US" sz="17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immutable storage with automated carbon credit issuance.</a:t>
            </a: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Simulation: 50 sensor nodes × 30 days, validated with 10 repetitions.</a:t>
            </a: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a78b91591_0_1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g3da78b91591_0_1"/>
          <p:cNvSpPr/>
          <p:nvPr/>
        </p:nvSpPr>
        <p:spPr>
          <a:xfrm>
            <a:off x="182875" y="0"/>
            <a:ext cx="68580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 &amp; Research Gap</a:t>
            </a:r>
            <a:endParaRPr b="0" i="0" sz="2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8" name="Google Shape;98;g3da78b91591_0_1"/>
          <p:cNvGraphicFramePr/>
          <p:nvPr/>
        </p:nvGraphicFramePr>
        <p:xfrm>
          <a:off x="228595" y="11426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{5F13E57F-26C6-42F5-BE0B-5658B9BBADA5}</a:tableStyleId>
              </a:tblPr>
              <a:tblGrid>
                <a:gridCol w="2033075"/>
                <a:gridCol w="1108950"/>
                <a:gridCol w="1108950"/>
                <a:gridCol w="1386200"/>
                <a:gridCol w="1386200"/>
                <a:gridCol w="1663425"/>
              </a:tblGrid>
              <a:tr h="482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20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IoT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20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20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Blockchain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20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Real-time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20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Anomaly Det.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2020"/>
                    </a:solidFill>
                  </a:tcPr>
                </a:tc>
              </a:tr>
              <a:tr h="482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Hua et al.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Khaqqi et al.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Stojanovic et al.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Zhang et al.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Framework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6B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6B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6B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6B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6B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6B1A"/>
                    </a:solidFill>
                  </a:tcPr>
                </a:tc>
              </a:tr>
            </a:tbl>
          </a:graphicData>
        </a:graphic>
      </p:graphicFrame>
      <p:sp>
        <p:nvSpPr>
          <p:cNvPr id="99" name="Google Shape;99;g3da78b91591_0_1"/>
          <p:cNvSpPr/>
          <p:nvPr/>
        </p:nvSpPr>
        <p:spPr>
          <a:xfrm>
            <a:off x="274345" y="4228090"/>
            <a:ext cx="8595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b="0" i="1" lang="en-US" sz="1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Gap: No existing work fully combines continuous IoT data, a two-stage AI anomaly detection pipeline, and secure blockchain storage in a single integrated real-time system.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a78b91591_0_7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g3da78b91591_0_7"/>
          <p:cNvSpPr/>
          <p:nvPr/>
        </p:nvSpPr>
        <p:spPr>
          <a:xfrm>
            <a:off x="0" y="0"/>
            <a:ext cx="68580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" name="Google Shape;106;g3da78b91591_0_7"/>
          <p:cNvGrpSpPr/>
          <p:nvPr/>
        </p:nvGrpSpPr>
        <p:grpSpPr>
          <a:xfrm>
            <a:off x="147738" y="1127021"/>
            <a:ext cx="8848526" cy="4917597"/>
            <a:chOff x="214080" y="1531235"/>
            <a:chExt cx="8778300" cy="4114800"/>
          </a:xfrm>
        </p:grpSpPr>
        <p:sp>
          <p:nvSpPr>
            <p:cNvPr id="107" name="Google Shape;107;g3da78b91591_0_7"/>
            <p:cNvSpPr/>
            <p:nvPr/>
          </p:nvSpPr>
          <p:spPr>
            <a:xfrm>
              <a:off x="214080" y="1531235"/>
              <a:ext cx="2834700" cy="4114800"/>
            </a:xfrm>
            <a:prstGeom prst="rect">
              <a:avLst/>
            </a:prstGeom>
            <a:solidFill>
              <a:srgbClr val="1565C0">
                <a:alpha val="10200"/>
              </a:srgbClr>
            </a:solidFill>
            <a:ln cap="flat" cmpd="sng" w="25600">
              <a:solidFill>
                <a:srgbClr val="1565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2150" lIns="92150" spcFirstLastPara="1" rIns="92150" wrap="square" tIns="92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g3da78b91591_0_7"/>
            <p:cNvSpPr/>
            <p:nvPr/>
          </p:nvSpPr>
          <p:spPr>
            <a:xfrm>
              <a:off x="214080" y="1531235"/>
              <a:ext cx="2834700" cy="502800"/>
            </a:xfrm>
            <a:prstGeom prst="rect">
              <a:avLst/>
            </a:prstGeom>
            <a:solidFill>
              <a:srgbClr val="1565C0"/>
            </a:solidFill>
            <a:ln cap="flat" cmpd="sng" w="12800">
              <a:solidFill>
                <a:srgbClr val="1565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2150" lIns="92150" spcFirstLastPara="1" rIns="92150" wrap="square" tIns="92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g3da78b91591_0_7"/>
            <p:cNvSpPr/>
            <p:nvPr/>
          </p:nvSpPr>
          <p:spPr>
            <a:xfrm>
              <a:off x="214080" y="1531235"/>
              <a:ext cx="28347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075" lIns="92150" spcFirstLastPara="1" rIns="92150" wrap="square" tIns="46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8"/>
                <a:buFont typeface="Arial"/>
                <a:buNone/>
              </a:pPr>
              <a:r>
                <a:rPr b="1" i="0" lang="en-US" sz="1008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LAYER 1</a:t>
              </a:r>
              <a:endParaRPr b="0" i="0" sz="100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g3da78b91591_0_7"/>
            <p:cNvSpPr/>
            <p:nvPr/>
          </p:nvSpPr>
          <p:spPr>
            <a:xfrm>
              <a:off x="214080" y="1787267"/>
              <a:ext cx="2834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075" lIns="92150" spcFirstLastPara="1" rIns="92150" wrap="square" tIns="46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7"/>
                <a:buFont typeface="Times New Roman"/>
                <a:buNone/>
              </a:pPr>
              <a:r>
                <a:rPr b="1" i="0" lang="en-US" sz="907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IoT Data Acquisition</a:t>
              </a:r>
              <a:endParaRPr b="0" i="0" sz="90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g3da78b91591_0_7"/>
            <p:cNvSpPr/>
            <p:nvPr/>
          </p:nvSpPr>
          <p:spPr>
            <a:xfrm>
              <a:off x="305520" y="2125595"/>
              <a:ext cx="265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75" lIns="92150" spcFirstLastPara="1" rIns="92150" wrap="square" tIns="46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1109"/>
                <a:buFont typeface="Times New Roman"/>
                <a:buNone/>
              </a:pPr>
              <a:r>
                <a:rPr b="0" i="0" lang="en-US" sz="1109" u="none" cap="none" strike="noStrike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▸  NDIR CO₂ Sensors (400–5000 ppm)</a:t>
              </a:r>
              <a:endParaRPr b="0" i="0" sz="110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g3da78b91591_0_7"/>
            <p:cNvSpPr/>
            <p:nvPr/>
          </p:nvSpPr>
          <p:spPr>
            <a:xfrm>
              <a:off x="305520" y="2628515"/>
              <a:ext cx="265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75" lIns="92150" spcFirstLastPara="1" rIns="92150" wrap="square" tIns="46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1109"/>
                <a:buFont typeface="Times New Roman"/>
                <a:buNone/>
              </a:pPr>
              <a:r>
                <a:rPr b="0" i="0" lang="en-US" sz="1109" u="none" cap="none" strike="noStrike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▸  Smart Energy Meters</a:t>
              </a:r>
              <a:endParaRPr b="0" i="0" sz="110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g3da78b91591_0_7"/>
            <p:cNvSpPr/>
            <p:nvPr/>
          </p:nvSpPr>
          <p:spPr>
            <a:xfrm>
              <a:off x="305520" y="3131435"/>
              <a:ext cx="265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75" lIns="92150" spcFirstLastPara="1" rIns="92150" wrap="square" tIns="46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1109"/>
                <a:buFont typeface="Times New Roman"/>
                <a:buNone/>
              </a:pPr>
              <a:r>
                <a:rPr b="0" i="0" lang="en-US" sz="1109" u="none" cap="none" strike="noStrike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▸  Temp / Humidity Sensors</a:t>
              </a:r>
              <a:endParaRPr b="0" i="0" sz="110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g3da78b91591_0_7"/>
            <p:cNvSpPr/>
            <p:nvPr/>
          </p:nvSpPr>
          <p:spPr>
            <a:xfrm>
              <a:off x="305520" y="3634355"/>
              <a:ext cx="265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75" lIns="92150" spcFirstLastPara="1" rIns="92150" wrap="square" tIns="46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1109"/>
                <a:buFont typeface="Times New Roman"/>
                <a:buNone/>
              </a:pPr>
              <a:r>
                <a:rPr b="0" i="0" lang="en-US" sz="1109" u="none" cap="none" strike="noStrike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▸  PM2.5 / PM10 Sensors</a:t>
              </a:r>
              <a:endParaRPr b="0" i="0" sz="110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g3da78b91591_0_7"/>
            <p:cNvSpPr/>
            <p:nvPr/>
          </p:nvSpPr>
          <p:spPr>
            <a:xfrm>
              <a:off x="305520" y="4137275"/>
              <a:ext cx="265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75" lIns="92150" spcFirstLastPara="1" rIns="92150" wrap="square" tIns="46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1109"/>
                <a:buFont typeface="Times New Roman"/>
                <a:buNone/>
              </a:pPr>
              <a:r>
                <a:rPr b="0" i="0" lang="en-US" sz="1109" u="none" cap="none" strike="noStrike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▸  ARM Cortex-M4 nodes</a:t>
              </a:r>
              <a:endParaRPr b="0" i="0" sz="110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g3da78b91591_0_7"/>
            <p:cNvSpPr/>
            <p:nvPr/>
          </p:nvSpPr>
          <p:spPr>
            <a:xfrm>
              <a:off x="305520" y="4640195"/>
              <a:ext cx="265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75" lIns="92150" spcFirstLastPara="1" rIns="92150" wrap="square" tIns="46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1109"/>
                <a:buFont typeface="Times New Roman"/>
                <a:buNone/>
              </a:pPr>
              <a:r>
                <a:rPr b="0" i="0" lang="en-US" sz="1109" u="none" cap="none" strike="noStrike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▸  TLS 1.3 encrypted, 60-sec intervals</a:t>
              </a:r>
              <a:endParaRPr b="0" i="0" sz="110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g3da78b91591_0_7"/>
            <p:cNvSpPr/>
            <p:nvPr/>
          </p:nvSpPr>
          <p:spPr>
            <a:xfrm>
              <a:off x="3185880" y="1531235"/>
              <a:ext cx="2834700" cy="4114800"/>
            </a:xfrm>
            <a:prstGeom prst="rect">
              <a:avLst/>
            </a:prstGeom>
            <a:solidFill>
              <a:srgbClr val="6A0DAD">
                <a:alpha val="10200"/>
              </a:srgbClr>
            </a:solidFill>
            <a:ln cap="flat" cmpd="sng" w="25600">
              <a:solidFill>
                <a:srgbClr val="6A0D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2150" lIns="92150" spcFirstLastPara="1" rIns="92150" wrap="square" tIns="92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g3da78b91591_0_7"/>
            <p:cNvSpPr/>
            <p:nvPr/>
          </p:nvSpPr>
          <p:spPr>
            <a:xfrm>
              <a:off x="3185880" y="1531235"/>
              <a:ext cx="2834700" cy="502800"/>
            </a:xfrm>
            <a:prstGeom prst="rect">
              <a:avLst/>
            </a:prstGeom>
            <a:solidFill>
              <a:srgbClr val="6A0DAD"/>
            </a:solidFill>
            <a:ln cap="flat" cmpd="sng" w="12800">
              <a:solidFill>
                <a:srgbClr val="6A0D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2150" lIns="92150" spcFirstLastPara="1" rIns="92150" wrap="square" tIns="92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g3da78b91591_0_7"/>
            <p:cNvSpPr/>
            <p:nvPr/>
          </p:nvSpPr>
          <p:spPr>
            <a:xfrm>
              <a:off x="3185880" y="1531235"/>
              <a:ext cx="28347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075" lIns="92150" spcFirstLastPara="1" rIns="92150" wrap="square" tIns="46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8"/>
                <a:buFont typeface="Arial"/>
                <a:buNone/>
              </a:pPr>
              <a:r>
                <a:rPr b="1" i="0" lang="en-US" sz="1008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LAYER 2</a:t>
              </a:r>
              <a:endParaRPr b="0" i="0" sz="100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g3da78b91591_0_7"/>
            <p:cNvSpPr/>
            <p:nvPr/>
          </p:nvSpPr>
          <p:spPr>
            <a:xfrm>
              <a:off x="3185880" y="1787267"/>
              <a:ext cx="2834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075" lIns="92150" spcFirstLastPara="1" rIns="92150" wrap="square" tIns="46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7"/>
                <a:buFont typeface="Times New Roman"/>
                <a:buNone/>
              </a:pPr>
              <a:r>
                <a:rPr b="1" i="0" lang="en-US" sz="907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AI Inference &amp; Validation</a:t>
              </a:r>
              <a:endParaRPr b="0" i="0" sz="90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g3da78b91591_0_7"/>
            <p:cNvSpPr/>
            <p:nvPr/>
          </p:nvSpPr>
          <p:spPr>
            <a:xfrm>
              <a:off x="3277320" y="2125595"/>
              <a:ext cx="265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75" lIns="92150" spcFirstLastPara="1" rIns="92150" wrap="square" tIns="46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1109"/>
                <a:buFont typeface="Times New Roman"/>
                <a:buNone/>
              </a:pPr>
              <a:r>
                <a:rPr b="0" i="0" lang="en-US" sz="1109" u="none" cap="none" strike="noStrike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▸  Edge Gateway preprocessing</a:t>
              </a:r>
              <a:endParaRPr b="0" i="0" sz="110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g3da78b91591_0_7"/>
            <p:cNvSpPr/>
            <p:nvPr/>
          </p:nvSpPr>
          <p:spPr>
            <a:xfrm>
              <a:off x="3277320" y="2628515"/>
              <a:ext cx="265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75" lIns="92150" spcFirstLastPara="1" rIns="92150" wrap="square" tIns="46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1109"/>
                <a:buFont typeface="Times New Roman"/>
                <a:buNone/>
              </a:pPr>
              <a:r>
                <a:rPr b="0" i="0" lang="en-US" sz="1109" u="none" cap="none" strike="noStrike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▸  LSTM — rolling 60-step window</a:t>
              </a:r>
              <a:endParaRPr b="0" i="0" sz="110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g3da78b91591_0_7"/>
            <p:cNvSpPr/>
            <p:nvPr/>
          </p:nvSpPr>
          <p:spPr>
            <a:xfrm>
              <a:off x="3277320" y="3131435"/>
              <a:ext cx="265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75" lIns="92150" spcFirstLastPara="1" rIns="92150" wrap="square" tIns="46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1109"/>
                <a:buFont typeface="Times New Roman"/>
                <a:buNone/>
              </a:pPr>
              <a:r>
                <a:rPr b="0" i="0" lang="en-US" sz="1109" u="none" cap="none" strike="noStrike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▸  XGBoost — VALID / ANOMALY</a:t>
              </a:r>
              <a:endParaRPr b="0" i="0" sz="110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g3da78b91591_0_7"/>
            <p:cNvSpPr/>
            <p:nvPr/>
          </p:nvSpPr>
          <p:spPr>
            <a:xfrm>
              <a:off x="3277320" y="3634355"/>
              <a:ext cx="265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75" lIns="92150" spcFirstLastPara="1" rIns="92150" wrap="square" tIns="46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1109"/>
                <a:buFont typeface="Times New Roman"/>
                <a:buNone/>
              </a:pPr>
              <a:r>
                <a:rPr b="0" i="0" lang="en-US" sz="1109" u="none" cap="none" strike="noStrike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▸  Anomalies trigger re-sampling</a:t>
              </a:r>
              <a:endParaRPr b="0" i="0" sz="110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g3da78b91591_0_7"/>
            <p:cNvSpPr/>
            <p:nvPr/>
          </p:nvSpPr>
          <p:spPr>
            <a:xfrm>
              <a:off x="3277320" y="4137275"/>
              <a:ext cx="265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75" lIns="92150" spcFirstLastPara="1" rIns="92150" wrap="square" tIns="46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1109"/>
                <a:buFont typeface="Times New Roman"/>
                <a:buNone/>
              </a:pPr>
              <a:r>
                <a:rPr b="0" i="0" lang="en-US" sz="1109" u="none" cap="none" strike="noStrike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▸  96.4% accuracy  |  3.2% FPR</a:t>
              </a:r>
              <a:endParaRPr b="0" i="0" sz="110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g3da78b91591_0_7"/>
            <p:cNvSpPr/>
            <p:nvPr/>
          </p:nvSpPr>
          <p:spPr>
            <a:xfrm>
              <a:off x="3277320" y="4640195"/>
              <a:ext cx="265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75" lIns="92150" spcFirstLastPara="1" rIns="92150" wrap="square" tIns="46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1109"/>
                <a:buFont typeface="Times New Roman"/>
                <a:buNone/>
              </a:pPr>
              <a:r>
                <a:rPr b="0" i="0" lang="en-US" sz="1109" u="none" cap="none" strike="noStrike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▸  AUC-ROC: 0.983</a:t>
              </a:r>
              <a:endParaRPr b="0" i="0" sz="110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g3da78b91591_0_7"/>
            <p:cNvSpPr/>
            <p:nvPr/>
          </p:nvSpPr>
          <p:spPr>
            <a:xfrm>
              <a:off x="6157680" y="1531235"/>
              <a:ext cx="2834700" cy="4114800"/>
            </a:xfrm>
            <a:prstGeom prst="rect">
              <a:avLst/>
            </a:prstGeom>
            <a:solidFill>
              <a:srgbClr val="1A6B1A">
                <a:alpha val="10200"/>
              </a:srgbClr>
            </a:solidFill>
            <a:ln cap="flat" cmpd="sng" w="25600">
              <a:solidFill>
                <a:srgbClr val="1A6B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2150" lIns="92150" spcFirstLastPara="1" rIns="92150" wrap="square" tIns="92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g3da78b91591_0_7"/>
            <p:cNvSpPr/>
            <p:nvPr/>
          </p:nvSpPr>
          <p:spPr>
            <a:xfrm>
              <a:off x="6157680" y="1531235"/>
              <a:ext cx="2834700" cy="502800"/>
            </a:xfrm>
            <a:prstGeom prst="rect">
              <a:avLst/>
            </a:prstGeom>
            <a:solidFill>
              <a:srgbClr val="1A6B1A"/>
            </a:solidFill>
            <a:ln cap="flat" cmpd="sng" w="12800">
              <a:solidFill>
                <a:srgbClr val="1A6B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2150" lIns="92150" spcFirstLastPara="1" rIns="92150" wrap="square" tIns="92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g3da78b91591_0_7"/>
            <p:cNvSpPr/>
            <p:nvPr/>
          </p:nvSpPr>
          <p:spPr>
            <a:xfrm>
              <a:off x="6157680" y="1531235"/>
              <a:ext cx="28347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075" lIns="92150" spcFirstLastPara="1" rIns="92150" wrap="square" tIns="46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8"/>
                <a:buFont typeface="Arial"/>
                <a:buNone/>
              </a:pPr>
              <a:r>
                <a:rPr b="1" i="0" lang="en-US" sz="1008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LAYER 3</a:t>
              </a:r>
              <a:endParaRPr b="0" i="0" sz="100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g3da78b91591_0_7"/>
            <p:cNvSpPr/>
            <p:nvPr/>
          </p:nvSpPr>
          <p:spPr>
            <a:xfrm>
              <a:off x="6157680" y="1787267"/>
              <a:ext cx="2834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075" lIns="92150" spcFirstLastPara="1" rIns="92150" wrap="square" tIns="46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7"/>
                <a:buFont typeface="Times New Roman"/>
                <a:buNone/>
              </a:pPr>
              <a:r>
                <a:rPr b="1" i="0" lang="en-US" sz="907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Blockchain Immutability</a:t>
              </a:r>
              <a:endParaRPr b="0" i="0" sz="90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g3da78b91591_0_7"/>
            <p:cNvSpPr/>
            <p:nvPr/>
          </p:nvSpPr>
          <p:spPr>
            <a:xfrm>
              <a:off x="6249120" y="2125595"/>
              <a:ext cx="265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75" lIns="92150" spcFirstLastPara="1" rIns="92150" wrap="square" tIns="46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1109"/>
                <a:buFont typeface="Times New Roman"/>
                <a:buNone/>
              </a:pPr>
              <a:r>
                <a:rPr b="0" i="0" lang="en-US" sz="1109" u="none" cap="none" strike="noStrike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▸  Hyperledger Fabric v2.4</a:t>
              </a:r>
              <a:endParaRPr b="0" i="0" sz="110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g3da78b91591_0_7"/>
            <p:cNvSpPr/>
            <p:nvPr/>
          </p:nvSpPr>
          <p:spPr>
            <a:xfrm>
              <a:off x="6249120" y="2628515"/>
              <a:ext cx="265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75" lIns="92150" spcFirstLastPara="1" rIns="92150" wrap="square" tIns="46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1109"/>
                <a:buFont typeface="Times New Roman"/>
                <a:buNone/>
              </a:pPr>
              <a:r>
                <a:rPr b="0" i="0" lang="en-US" sz="1109" u="none" cap="none" strike="noStrike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▸  3-org endorsement policy (2-of-3)</a:t>
              </a:r>
              <a:endParaRPr b="0" i="0" sz="110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g3da78b91591_0_7"/>
            <p:cNvSpPr/>
            <p:nvPr/>
          </p:nvSpPr>
          <p:spPr>
            <a:xfrm>
              <a:off x="6249120" y="3131435"/>
              <a:ext cx="265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75" lIns="92150" spcFirstLastPara="1" rIns="92150" wrap="square" tIns="46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1109"/>
                <a:buFont typeface="Times New Roman"/>
                <a:buNone/>
              </a:pPr>
              <a:r>
                <a:rPr b="0" i="0" lang="en-US" sz="1109" u="none" cap="none" strike="noStrike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▸  SHA-256 per block</a:t>
              </a:r>
              <a:endParaRPr b="0" i="0" sz="110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g3da78b91591_0_7"/>
            <p:cNvSpPr/>
            <p:nvPr/>
          </p:nvSpPr>
          <p:spPr>
            <a:xfrm>
              <a:off x="6249120" y="3634355"/>
              <a:ext cx="265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75" lIns="92150" spcFirstLastPara="1" rIns="92150" wrap="square" tIns="46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1109"/>
                <a:buFont typeface="Times New Roman"/>
                <a:buNone/>
              </a:pPr>
              <a:r>
                <a:rPr b="0" i="0" lang="en-US" sz="1109" u="none" cap="none" strike="noStrike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▸  Smart contracts in Go</a:t>
              </a:r>
              <a:endParaRPr b="0" i="0" sz="110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g3da78b91591_0_7"/>
            <p:cNvSpPr/>
            <p:nvPr/>
          </p:nvSpPr>
          <p:spPr>
            <a:xfrm>
              <a:off x="6249120" y="4137275"/>
              <a:ext cx="265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75" lIns="92150" spcFirstLastPara="1" rIns="92150" wrap="square" tIns="46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1109"/>
                <a:buFont typeface="Times New Roman"/>
                <a:buNone/>
              </a:pPr>
              <a:r>
                <a:rPr b="0" i="0" lang="en-US" sz="1109" u="none" cap="none" strike="noStrike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▸  100 kg CO₂ = 1 Carbon Credit</a:t>
              </a:r>
              <a:endParaRPr b="0" i="0" sz="110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g3da78b91591_0_7"/>
            <p:cNvSpPr/>
            <p:nvPr/>
          </p:nvSpPr>
          <p:spPr>
            <a:xfrm>
              <a:off x="6249120" y="4640195"/>
              <a:ext cx="265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75" lIns="92150" spcFirstLastPara="1" rIns="92150" wrap="square" tIns="46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1109"/>
                <a:buFont typeface="Times New Roman"/>
                <a:buNone/>
              </a:pPr>
              <a:r>
                <a:rPr b="0" i="0" lang="en-US" sz="1109" u="none" cap="none" strike="noStrike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▸  Raft consensus mechanism</a:t>
              </a:r>
              <a:endParaRPr b="0" i="0" sz="110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7" name="Google Shape;137;g3da78b91591_0_7"/>
            <p:cNvCxnSpPr/>
            <p:nvPr/>
          </p:nvCxnSpPr>
          <p:spPr>
            <a:xfrm>
              <a:off x="3067008" y="3588635"/>
              <a:ext cx="109800" cy="0"/>
            </a:xfrm>
            <a:prstGeom prst="straightConnector1">
              <a:avLst/>
            </a:prstGeom>
            <a:noFill/>
            <a:ln cap="flat" cmpd="sng" w="25600">
              <a:solidFill>
                <a:srgbClr val="5555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" name="Google Shape;138;g3da78b91591_0_7"/>
            <p:cNvCxnSpPr/>
            <p:nvPr/>
          </p:nvCxnSpPr>
          <p:spPr>
            <a:xfrm>
              <a:off x="6038808" y="3588635"/>
              <a:ext cx="109800" cy="0"/>
            </a:xfrm>
            <a:prstGeom prst="straightConnector1">
              <a:avLst/>
            </a:prstGeom>
            <a:noFill/>
            <a:ln cap="flat" cmpd="sng" w="25600">
              <a:solidFill>
                <a:srgbClr val="55555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a78b91591_0_13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g3da78b91591_0_13"/>
          <p:cNvSpPr/>
          <p:nvPr/>
        </p:nvSpPr>
        <p:spPr>
          <a:xfrm>
            <a:off x="182875" y="0"/>
            <a:ext cx="6858000" cy="8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r>
              <a:rPr b="1"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1" i="0" lang="en-US" sz="2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IoT Layer &amp; AI Pipeline</a:t>
            </a:r>
            <a:endParaRPr b="0" i="0" sz="2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da78b91591_0_13"/>
          <p:cNvSpPr/>
          <p:nvPr/>
        </p:nvSpPr>
        <p:spPr>
          <a:xfrm>
            <a:off x="182817" y="1213485"/>
            <a:ext cx="4114800" cy="3474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da78b91591_0_13"/>
          <p:cNvSpPr/>
          <p:nvPr/>
        </p:nvSpPr>
        <p:spPr>
          <a:xfrm>
            <a:off x="182817" y="1213485"/>
            <a:ext cx="4114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imes New Roman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 Data Acquisition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da78b91591_0_13"/>
          <p:cNvSpPr/>
          <p:nvPr/>
        </p:nvSpPr>
        <p:spPr>
          <a:xfrm>
            <a:off x="274258" y="1643253"/>
            <a:ext cx="3931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NDIR sensors: CO₂ 400–5000 ppm (±3%)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da78b91591_0_13"/>
          <p:cNvSpPr/>
          <p:nvPr/>
        </p:nvSpPr>
        <p:spPr>
          <a:xfrm>
            <a:off x="274258" y="2118741"/>
            <a:ext cx="3931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Energy meters: kWh pulse metering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da78b91591_0_13"/>
          <p:cNvSpPr/>
          <p:nvPr/>
        </p:nvSpPr>
        <p:spPr>
          <a:xfrm>
            <a:off x="274258" y="2594229"/>
            <a:ext cx="3931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Temp/Humidity: ±0.3°C / ±2% RH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da78b91591_0_13"/>
          <p:cNvSpPr/>
          <p:nvPr/>
        </p:nvSpPr>
        <p:spPr>
          <a:xfrm>
            <a:off x="274258" y="3069717"/>
            <a:ext cx="3931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PM sensors: PM2.5 &amp; PM10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da78b91591_0_13"/>
          <p:cNvSpPr/>
          <p:nvPr/>
        </p:nvSpPr>
        <p:spPr>
          <a:xfrm>
            <a:off x="274258" y="3545205"/>
            <a:ext cx="3931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Comm: 4G / NB-IoT with TLS 1.3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da78b91591_0_13"/>
          <p:cNvSpPr/>
          <p:nvPr/>
        </p:nvSpPr>
        <p:spPr>
          <a:xfrm>
            <a:off x="274258" y="4020693"/>
            <a:ext cx="3931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Interval: every 60 seconds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da78b91591_0_13"/>
          <p:cNvSpPr/>
          <p:nvPr/>
        </p:nvSpPr>
        <p:spPr>
          <a:xfrm>
            <a:off x="4663377" y="1213485"/>
            <a:ext cx="4297800" cy="347400"/>
          </a:xfrm>
          <a:prstGeom prst="rect">
            <a:avLst/>
          </a:prstGeom>
          <a:solidFill>
            <a:srgbClr val="6A0DAD"/>
          </a:solidFill>
          <a:ln cap="flat" cmpd="sng" w="12700">
            <a:solidFill>
              <a:srgbClr val="6A0D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da78b91591_0_13"/>
          <p:cNvSpPr/>
          <p:nvPr/>
        </p:nvSpPr>
        <p:spPr>
          <a:xfrm>
            <a:off x="4663377" y="1213485"/>
            <a:ext cx="4297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imes New Roman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Inference Pipeline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da78b91591_0_13"/>
          <p:cNvSpPr/>
          <p:nvPr/>
        </p:nvSpPr>
        <p:spPr>
          <a:xfrm>
            <a:off x="4754818" y="1643253"/>
            <a:ext cx="4114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Edge gateway: outlier removal &amp; normalization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da78b91591_0_13"/>
          <p:cNvSpPr/>
          <p:nvPr/>
        </p:nvSpPr>
        <p:spPr>
          <a:xfrm>
            <a:off x="4754818" y="2118741"/>
            <a:ext cx="4114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LSTM: 60-step rolling window predictor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da78b91591_0_13"/>
          <p:cNvSpPr/>
          <p:nvPr/>
        </p:nvSpPr>
        <p:spPr>
          <a:xfrm>
            <a:off x="4754818" y="2594229"/>
            <a:ext cx="4114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XGBoost: VALID / ANOMALY classifier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da78b91591_0_13"/>
          <p:cNvSpPr/>
          <p:nvPr/>
        </p:nvSpPr>
        <p:spPr>
          <a:xfrm>
            <a:off x="4754818" y="3069717"/>
            <a:ext cx="4114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Bayesian hyperparameter optimization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da78b91591_0_13"/>
          <p:cNvSpPr/>
          <p:nvPr/>
        </p:nvSpPr>
        <p:spPr>
          <a:xfrm>
            <a:off x="4754818" y="3545205"/>
            <a:ext cx="4114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Params: depth=6, lr=0.05, n=200, λ=1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da78b91591_0_13"/>
          <p:cNvSpPr/>
          <p:nvPr/>
        </p:nvSpPr>
        <p:spPr>
          <a:xfrm>
            <a:off x="4754818" y="4020693"/>
            <a:ext cx="4114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5-fold cross-validation on 10,000 samples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g3da78b91591_0_13"/>
          <p:cNvCxnSpPr/>
          <p:nvPr/>
        </p:nvCxnSpPr>
        <p:spPr>
          <a:xfrm>
            <a:off x="4434778" y="1259205"/>
            <a:ext cx="0" cy="40692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a78b91591_0_57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g3da78b91591_0_57"/>
          <p:cNvSpPr/>
          <p:nvPr/>
        </p:nvSpPr>
        <p:spPr>
          <a:xfrm>
            <a:off x="182875" y="0"/>
            <a:ext cx="6858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r>
              <a:rPr b="1" lang="en-US" sz="2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1" i="0" lang="en-US" sz="2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Blockchain Layer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da78b91591_0_57"/>
          <p:cNvSpPr/>
          <p:nvPr/>
        </p:nvSpPr>
        <p:spPr>
          <a:xfrm>
            <a:off x="228600" y="1165225"/>
            <a:ext cx="4846200" cy="4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Hyperledger Fabric v2.4</a:t>
            </a:r>
            <a:r>
              <a:rPr b="1" lang="en-US" sz="18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i="0" lang="en-US" sz="18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Key Design Choices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00"/>
              <a:buFont typeface="Times New Roman"/>
              <a:buNone/>
            </a:pPr>
            <a:br>
              <a:rPr b="0" i="0" lang="en-US" sz="8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Participants:  </a:t>
            </a:r>
            <a:r>
              <a:rPr b="0" i="0" lang="en-US" sz="1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Industrial Company  |  Regulatory Authority  |  Independent Auditor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Consensus:  </a:t>
            </a:r>
            <a:r>
              <a:rPr b="0" i="0" lang="en-US" sz="1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Raft-based ordering (2-of-3 endorsement policy)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Contract Rules: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1. Only AI-VALID labelled records are stored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2. SHA-256 hash secures every transaction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3. Carbon credit auto-issued per 100 kg CO₂ reduction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4. No replay attacks — SHA-256 deduplication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5. Facility must be registered to commit data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da78b91591_0_57"/>
          <p:cNvSpPr/>
          <p:nvPr/>
        </p:nvSpPr>
        <p:spPr>
          <a:xfrm>
            <a:off x="5257900" y="1054096"/>
            <a:ext cx="36576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Overhead (50 nodes, 30 days)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0" name="Google Shape;170;g3da78b91591_0_57"/>
          <p:cNvGraphicFramePr/>
          <p:nvPr/>
        </p:nvGraphicFramePr>
        <p:xfrm>
          <a:off x="5257895" y="15919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{5F13E57F-26C6-42F5-BE0B-5658B9BBADA5}</a:tableStyleId>
              </a:tblPr>
              <a:tblGrid>
                <a:gridCol w="2194550"/>
                <a:gridCol w="1463050"/>
              </a:tblGrid>
              <a:tr h="49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20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2020"/>
                    </a:solidFill>
                  </a:tcPr>
                </a:tc>
              </a:tr>
              <a:tr h="49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CPU per peer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18.0%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Memory per peer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512 MB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Consensus latency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1.40 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Storage growth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4.2 MB/day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 commit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210 ms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71" name="Google Shape;171;g3da78b91591_0_57"/>
          <p:cNvCxnSpPr/>
          <p:nvPr/>
        </p:nvCxnSpPr>
        <p:spPr>
          <a:xfrm>
            <a:off x="5166355" y="1417268"/>
            <a:ext cx="0" cy="40692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a78b91591_0_61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g3da78b91591_0_61"/>
          <p:cNvSpPr/>
          <p:nvPr/>
        </p:nvSpPr>
        <p:spPr>
          <a:xfrm>
            <a:off x="182875" y="0"/>
            <a:ext cx="6858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and Technologies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da78b91591_0_61"/>
          <p:cNvSpPr/>
          <p:nvPr/>
        </p:nvSpPr>
        <p:spPr>
          <a:xfrm>
            <a:off x="182950" y="1050925"/>
            <a:ext cx="1463100" cy="7989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79" name="Google Shape;179;g3da78b91591_0_61"/>
          <p:cNvSpPr/>
          <p:nvPr/>
        </p:nvSpPr>
        <p:spPr>
          <a:xfrm>
            <a:off x="182950" y="1050925"/>
            <a:ext cx="14631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Languages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da78b91591_0_61"/>
          <p:cNvSpPr/>
          <p:nvPr/>
        </p:nvSpPr>
        <p:spPr>
          <a:xfrm>
            <a:off x="1828872" y="1097915"/>
            <a:ext cx="71322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3.10+ · Node.js 18+ · Go · Solidity · HTML/CSS/JS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da78b91591_0_61"/>
          <p:cNvSpPr/>
          <p:nvPr/>
        </p:nvSpPr>
        <p:spPr>
          <a:xfrm>
            <a:off x="182950" y="2025962"/>
            <a:ext cx="1463100" cy="798900"/>
          </a:xfrm>
          <a:prstGeom prst="rect">
            <a:avLst/>
          </a:prstGeom>
          <a:solidFill>
            <a:srgbClr val="6A0DAD"/>
          </a:solidFill>
          <a:ln cap="flat" cmpd="sng" w="12700">
            <a:solidFill>
              <a:srgbClr val="6A0D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82" name="Google Shape;182;g3da78b91591_0_61"/>
          <p:cNvSpPr/>
          <p:nvPr/>
        </p:nvSpPr>
        <p:spPr>
          <a:xfrm>
            <a:off x="182950" y="2025962"/>
            <a:ext cx="14631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/ ML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da78b91591_0_61"/>
          <p:cNvSpPr/>
          <p:nvPr/>
        </p:nvSpPr>
        <p:spPr>
          <a:xfrm>
            <a:off x="1828872" y="2072952"/>
            <a:ext cx="71322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 · LSTM (Keras) · scikit-learn · NumPy · Pandas · Bayesian Opt.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da78b91591_0_61"/>
          <p:cNvSpPr/>
          <p:nvPr/>
        </p:nvSpPr>
        <p:spPr>
          <a:xfrm>
            <a:off x="182950" y="3000999"/>
            <a:ext cx="1463100" cy="798900"/>
          </a:xfrm>
          <a:prstGeom prst="rect">
            <a:avLst/>
          </a:prstGeom>
          <a:solidFill>
            <a:srgbClr val="1A6B1A"/>
          </a:solidFill>
          <a:ln cap="flat" cmpd="sng" w="12700">
            <a:solidFill>
              <a:srgbClr val="1A6B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85" name="Google Shape;185;g3da78b91591_0_61"/>
          <p:cNvSpPr/>
          <p:nvPr/>
        </p:nvSpPr>
        <p:spPr>
          <a:xfrm>
            <a:off x="182950" y="3000999"/>
            <a:ext cx="14631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Blockchain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da78b91591_0_61"/>
          <p:cNvSpPr/>
          <p:nvPr/>
        </p:nvSpPr>
        <p:spPr>
          <a:xfrm>
            <a:off x="1828872" y="3047989"/>
            <a:ext cx="71322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Hyperledger Fabric v2.4 · Raft Consensus · SHA-256 · Smart Contracts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da78b91591_0_61"/>
          <p:cNvSpPr/>
          <p:nvPr/>
        </p:nvSpPr>
        <p:spPr>
          <a:xfrm>
            <a:off x="182950" y="3976036"/>
            <a:ext cx="1463100" cy="798900"/>
          </a:xfrm>
          <a:prstGeom prst="rect">
            <a:avLst/>
          </a:prstGeom>
          <a:solidFill>
            <a:srgbClr val="B85000"/>
          </a:solidFill>
          <a:ln cap="flat" cmpd="sng" w="12700">
            <a:solidFill>
              <a:srgbClr val="B85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88" name="Google Shape;188;g3da78b91591_0_61"/>
          <p:cNvSpPr/>
          <p:nvPr/>
        </p:nvSpPr>
        <p:spPr>
          <a:xfrm>
            <a:off x="182950" y="3976036"/>
            <a:ext cx="14631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IoT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da78b91591_0_61"/>
          <p:cNvSpPr/>
          <p:nvPr/>
        </p:nvSpPr>
        <p:spPr>
          <a:xfrm>
            <a:off x="1828872" y="4023026"/>
            <a:ext cx="71322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NDIR Sensors · ARM Cortex-M4 · 4G/NB-IoT · TLS 1.3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da78b91591_0_61"/>
          <p:cNvSpPr/>
          <p:nvPr/>
        </p:nvSpPr>
        <p:spPr>
          <a:xfrm>
            <a:off x="182950" y="4951074"/>
            <a:ext cx="1463100" cy="79890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91" name="Google Shape;191;g3da78b91591_0_61"/>
          <p:cNvSpPr/>
          <p:nvPr/>
        </p:nvSpPr>
        <p:spPr>
          <a:xfrm>
            <a:off x="182950" y="4951074"/>
            <a:ext cx="14631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Simulation &amp; Dev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da78b91591_0_61"/>
          <p:cNvSpPr/>
          <p:nvPr/>
        </p:nvSpPr>
        <p:spPr>
          <a:xfrm>
            <a:off x="1828872" y="4998063"/>
            <a:ext cx="71322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SimPy 4.0 · Flask · Docker Compose · Hardhat · React SSE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a78b91591_0_65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g3da78b91591_0_65"/>
          <p:cNvSpPr/>
          <p:nvPr/>
        </p:nvSpPr>
        <p:spPr>
          <a:xfrm>
            <a:off x="182875" y="0"/>
            <a:ext cx="6858000" cy="8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b="0" i="0" sz="2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da78b91591_0_65"/>
          <p:cNvSpPr/>
          <p:nvPr/>
        </p:nvSpPr>
        <p:spPr>
          <a:xfrm>
            <a:off x="274345" y="110236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Times New Roman"/>
              <a:buNone/>
            </a:pPr>
            <a:r>
              <a:rPr b="1" i="0" lang="en-US" sz="19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Modules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"/>
              <a:buFont typeface="Times New Roman"/>
              <a:buNone/>
            </a:pPr>
            <a:br>
              <a:rPr b="0" i="0" lang="en-US" sz="9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1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iot-simulator/</a:t>
            </a: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sensor_simulator.py </a:t>
            </a:r>
            <a:r>
              <a:rPr lang="en-US" sz="17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</a:t>
            </a: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 virtual sensors, 5-sec intervals, 10% anomaly injection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1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ai-engine/</a:t>
            </a: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ai_engine.py </a:t>
            </a:r>
            <a:r>
              <a:rPr lang="en-US" sz="17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</a:t>
            </a: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Flask REST API (port 5001), LSTM + XGBoost pipeline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1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blockchain/</a:t>
            </a: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blockchain_node.js </a:t>
            </a:r>
            <a:r>
              <a:rPr lang="en-US" sz="17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</a:t>
            </a: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SHA-256 blocks, carbon credits (port 5002)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CarbonCreditVerifier.sol </a:t>
            </a:r>
            <a:r>
              <a:rPr lang="en-US" sz="17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</a:t>
            </a: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Solidity smart contract (Hardhat)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1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dashboard/</a:t>
            </a: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dashboard_bus.py </a:t>
            </a:r>
            <a:r>
              <a:rPr lang="en-US" sz="17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</a:t>
            </a: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SSE event streaming (port 5003)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index.html </a:t>
            </a:r>
            <a:r>
              <a:rPr lang="en-US" sz="17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</a:t>
            </a: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real-time monitoring UI in browser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00"/>
              <a:buFont typeface="Times New Roman"/>
              <a:buNone/>
            </a:pPr>
            <a:br>
              <a:rPr b="0" i="0" lang="en-US" sz="1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1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Flow: </a:t>
            </a: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 Simulator → POST /ingest (AI Engine) → POST /commit (Blockchain) + POST /event (Dashboard Bus) → SSE → Browser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00"/>
              <a:buFont typeface="Times New Roman"/>
              <a:buNone/>
            </a:pPr>
            <a:br>
              <a:rPr b="0" i="0" lang="en-US" sz="1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b="1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Deployment: </a:t>
            </a: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./run_local.sh  OR  docker compose up --build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a78b91591_0_69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g3da78b91591_0_69"/>
          <p:cNvSpPr/>
          <p:nvPr/>
        </p:nvSpPr>
        <p:spPr>
          <a:xfrm>
            <a:off x="0" y="0"/>
            <a:ext cx="6858000" cy="8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r>
              <a:rPr b="1" lang="en-US" sz="2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i="0" lang="en-US" sz="2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 Model Performance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6" name="Google Shape;206;g3da78b91591_0_69"/>
          <p:cNvGraphicFramePr/>
          <p:nvPr/>
        </p:nvGraphicFramePr>
        <p:xfrm>
          <a:off x="320033" y="11139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{5F13E57F-26C6-42F5-BE0B-5658B9BBADA5}</a:tableStyleId>
              </a:tblPr>
              <a:tblGrid>
                <a:gridCol w="2011675"/>
                <a:gridCol w="1005850"/>
                <a:gridCol w="914400"/>
                <a:gridCol w="10972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20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20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Std Dev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20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95% CI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2020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 (%)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96.4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±1.2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[94.2, 98.6]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 (%)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95.8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±1.4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[93.0, 98.6]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Recall (%)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97.1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±1.0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[95.1, 99.1]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F1-Score (%)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96.4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±1.2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[94.0, 98.8]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AUC-ROC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0.983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±0.008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[0.967, 0.999]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LSTM RMSE (ppm)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12.3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±0.9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[10.5, 14.1]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False Positive Rate (%)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3.2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±0.5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[2.2, 4.2]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7" name="Google Shape;207;g3da78b91591_0_69"/>
          <p:cNvSpPr/>
          <p:nvPr/>
        </p:nvSpPr>
        <p:spPr>
          <a:xfrm>
            <a:off x="5623552" y="1269365"/>
            <a:ext cx="3200400" cy="868800"/>
          </a:xfrm>
          <a:prstGeom prst="rect">
            <a:avLst/>
          </a:prstGeom>
          <a:solidFill>
            <a:srgbClr val="1A6B1A">
              <a:alpha val="12160"/>
            </a:srgbClr>
          </a:solidFill>
          <a:ln cap="flat" cmpd="sng" w="25400">
            <a:solidFill>
              <a:srgbClr val="1A6B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8" name="Google Shape;208;g3da78b91591_0_69"/>
          <p:cNvSpPr/>
          <p:nvPr/>
        </p:nvSpPr>
        <p:spPr>
          <a:xfrm>
            <a:off x="5623552" y="1315085"/>
            <a:ext cx="3200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1A"/>
              </a:buClr>
              <a:buSzPts val="3200"/>
              <a:buFont typeface="Arial"/>
              <a:buNone/>
            </a:pPr>
            <a:r>
              <a:rPr b="1" i="0" lang="en-US" sz="3600" u="none" cap="none" strike="noStrike">
                <a:solidFill>
                  <a:srgbClr val="1A6B1A"/>
                </a:solidFill>
                <a:latin typeface="Arial"/>
                <a:ea typeface="Arial"/>
                <a:cs typeface="Arial"/>
                <a:sym typeface="Arial"/>
              </a:rPr>
              <a:t>96.4%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da78b91591_0_69"/>
          <p:cNvSpPr/>
          <p:nvPr/>
        </p:nvSpPr>
        <p:spPr>
          <a:xfrm>
            <a:off x="5623552" y="1799717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da78b91591_0_69"/>
          <p:cNvSpPr/>
          <p:nvPr/>
        </p:nvSpPr>
        <p:spPr>
          <a:xfrm>
            <a:off x="5623552" y="2366645"/>
            <a:ext cx="3200400" cy="868800"/>
          </a:xfrm>
          <a:prstGeom prst="rect">
            <a:avLst/>
          </a:prstGeom>
          <a:solidFill>
            <a:srgbClr val="1565C0">
              <a:alpha val="12160"/>
            </a:srgbClr>
          </a:solidFill>
          <a:ln cap="flat" cmpd="sng" w="254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1" name="Google Shape;211;g3da78b91591_0_69"/>
          <p:cNvSpPr/>
          <p:nvPr/>
        </p:nvSpPr>
        <p:spPr>
          <a:xfrm>
            <a:off x="5623552" y="2412365"/>
            <a:ext cx="3200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3200"/>
              <a:buFont typeface="Arial"/>
              <a:buNone/>
            </a:pPr>
            <a:r>
              <a:rPr b="1" i="0" lang="en-US" sz="360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0.983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da78b91591_0_69"/>
          <p:cNvSpPr/>
          <p:nvPr/>
        </p:nvSpPr>
        <p:spPr>
          <a:xfrm>
            <a:off x="5623552" y="2896997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AUC-ROC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da78b91591_0_69"/>
          <p:cNvSpPr/>
          <p:nvPr/>
        </p:nvSpPr>
        <p:spPr>
          <a:xfrm>
            <a:off x="5623552" y="3463925"/>
            <a:ext cx="3200400" cy="868800"/>
          </a:xfrm>
          <a:prstGeom prst="rect">
            <a:avLst/>
          </a:prstGeom>
          <a:solidFill>
            <a:srgbClr val="B85000">
              <a:alpha val="12160"/>
            </a:srgbClr>
          </a:solidFill>
          <a:ln cap="flat" cmpd="sng" w="25400">
            <a:solidFill>
              <a:srgbClr val="B85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4" name="Google Shape;214;g3da78b91591_0_69"/>
          <p:cNvSpPr/>
          <p:nvPr/>
        </p:nvSpPr>
        <p:spPr>
          <a:xfrm>
            <a:off x="5623552" y="3509645"/>
            <a:ext cx="3200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00"/>
              </a:buClr>
              <a:buSzPts val="3200"/>
              <a:buFont typeface="Arial"/>
              <a:buNone/>
            </a:pPr>
            <a:r>
              <a:rPr b="1" i="0" lang="en-US" sz="3600" u="none" cap="none" strike="noStrike">
                <a:solidFill>
                  <a:srgbClr val="B85000"/>
                </a:solidFill>
                <a:latin typeface="Arial"/>
                <a:ea typeface="Arial"/>
                <a:cs typeface="Arial"/>
                <a:sym typeface="Arial"/>
              </a:rPr>
              <a:t>3.2%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da78b91591_0_69"/>
          <p:cNvSpPr/>
          <p:nvPr/>
        </p:nvSpPr>
        <p:spPr>
          <a:xfrm>
            <a:off x="5623552" y="3994277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 +ve Rate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a78b91591_0_128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g3da78b91591_0_128"/>
          <p:cNvSpPr/>
          <p:nvPr/>
        </p:nvSpPr>
        <p:spPr>
          <a:xfrm>
            <a:off x="182875" y="0"/>
            <a:ext cx="6858000" cy="8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Future Scope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da78b91591_0_128"/>
          <p:cNvSpPr/>
          <p:nvPr/>
        </p:nvSpPr>
        <p:spPr>
          <a:xfrm>
            <a:off x="274350" y="1165849"/>
            <a:ext cx="8595300" cy="45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Times New Roman"/>
              <a:buNone/>
            </a:pPr>
            <a:r>
              <a:rPr b="1" i="0" lang="en-US" sz="19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00"/>
              <a:buFont typeface="Times New Roman"/>
              <a:buNone/>
            </a:pPr>
            <a:br>
              <a:rPr b="0" i="0" lang="en-US" sz="9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Successfully built a 3-layer IoT + AI + Blockchain framework for real-time carbon credit verification.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Achieved 96.4% accuracy, 2.1</a:t>
            </a:r>
            <a:r>
              <a:rPr lang="en-US" sz="17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 verification time, 312 TPS over 30</a:t>
            </a:r>
            <a:r>
              <a:rPr lang="en-US" sz="17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day simulation.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100% rejection of 4,320 tamper attempts</a:t>
            </a:r>
            <a:r>
              <a:rPr lang="en-US" sz="17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robust security validated.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Outperforms manual audits, blockchain</a:t>
            </a:r>
            <a:r>
              <a:rPr lang="en-US" sz="17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only, and AI</a:t>
            </a:r>
            <a:r>
              <a:rPr lang="en-US" sz="17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baselines on all metrics.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00"/>
              <a:buFont typeface="Times New Roman"/>
              <a:buNone/>
            </a:pPr>
            <a:br>
              <a:rPr b="0" i="0" lang="en-US" sz="1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Times New Roman"/>
              <a:buNone/>
            </a:pPr>
            <a:r>
              <a:rPr b="1" i="0" lang="en-US" sz="19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00"/>
              <a:buFont typeface="Times New Roman"/>
              <a:buNone/>
            </a:pPr>
            <a:br>
              <a:rPr b="0" i="0" lang="en-US" sz="9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Real industrial deployment using live sensor data from actual manufacturing facilities.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Federated learning for multi-facility training without sharing raw data.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Integration with Verra / Gold Standard registries for automated credit issuance.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Energy</a:t>
            </a:r>
            <a:r>
              <a:rPr lang="en-US" sz="17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blockchain alternatives (PoS, DAG-based consensus).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None/>
            </a:pP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Transformer</a:t>
            </a:r>
            <a:r>
              <a:rPr lang="en-US" sz="17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7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models for improved long-range emission forecasting.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3"/>
          <p:cNvSpPr/>
          <p:nvPr/>
        </p:nvSpPr>
        <p:spPr>
          <a:xfrm>
            <a:off x="641925" y="4026000"/>
            <a:ext cx="8016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Teena Goyal  |  221099</a:t>
            </a:r>
            <a:r>
              <a:rPr lang="en-US" sz="13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1300" u="none" cap="none" strike="noStrik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910  |  Chitkara University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2010-04-09T07:36:15Z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